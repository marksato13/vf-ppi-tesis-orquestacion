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0F8A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CYBERFLOW  ·  VALIDACIÓN TÉCNICA</a:t>
            </a:r>
            <a:endParaRPr lang="en-US" sz="95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66928" y="493776"/>
            <a:ext cx="11018520" cy="53035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900" b="1" dirty="0">
                <a:solidFill>
                  <a:srgbClr val="13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9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6510528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79D"/>
                </a:solidFill>
              </a:rPr>
              <a:t>CyberFlow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66928" y="493776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900" b="1" dirty="0">
                <a:solidFill>
                  <a:srgbClr val="13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Obtención de la data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585216" y="107899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C"/>
                </a:solidFill>
              </a:rPr>
              <a:t>De dónde sale cada dato: generación → espejo → captura → ventanas → modelo. El sensor observa, no está en línea.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2468880"/>
            <a:ext cx="2011680" cy="1783080"/>
          </a:xfrm>
          <a:prstGeom prst="roundRect">
            <a:avLst>
              <a:gd name="adj" fmla="val 6154"/>
            </a:avLst>
          </a:prstGeom>
          <a:solidFill>
            <a:srgbClr val="F4F6FA"/>
          </a:solidFill>
          <a:ln w="12700">
            <a:solidFill>
              <a:srgbClr val="DFE5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9224" y="261518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7B87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GENERACIÓN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649224" y="28895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31B2E"/>
                </a:solidFill>
              </a:rPr>
              <a:t>Clientes + Kali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49224" y="3255264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5506A"/>
                </a:solidFill>
              </a:rPr>
              <a:t>● Clientes 10.10.20.21–.26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5506A"/>
                </a:solidFill>
              </a:rPr>
              <a:t>   6 perfiles (NORMAL)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5506A"/>
                </a:solidFill>
              </a:rPr>
              <a:t>● Kali 10.10.20.30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5506A"/>
                </a:solidFill>
              </a:rPr>
              <a:t>   ataques (ANÓMALO)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60320" y="3360420"/>
            <a:ext cx="246888" cy="0"/>
          </a:xfrm>
          <a:prstGeom prst="line">
            <a:avLst/>
          </a:prstGeom>
          <a:noFill/>
          <a:ln w="22225">
            <a:solidFill>
              <a:srgbClr val="8A97AD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852928" y="2468880"/>
            <a:ext cx="2011680" cy="1783080"/>
          </a:xfrm>
          <a:prstGeom prst="roundRect">
            <a:avLst>
              <a:gd name="adj" fmla="val 6154"/>
            </a:avLst>
          </a:prstGeom>
          <a:solidFill>
            <a:srgbClr val="F4F6FA"/>
          </a:solidFill>
          <a:ln w="12700">
            <a:solidFill>
              <a:srgbClr val="DFE5E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99232" y="261518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7B87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ESPEJO SPAN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2999232" y="28895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31B2E"/>
                </a:solidFill>
              </a:rPr>
              <a:t>Copia del troncal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2999232" y="3255264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5506A"/>
                </a:solidFill>
              </a:rPr>
              <a:t>El tráfico entre VLAN cruza el troncal, que se copia (SPAN) al sensor. El sensor observa, no corta.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910328" y="3360420"/>
            <a:ext cx="246888" cy="0"/>
          </a:xfrm>
          <a:prstGeom prst="line">
            <a:avLst/>
          </a:prstGeom>
          <a:noFill/>
          <a:ln w="22225">
            <a:solidFill>
              <a:srgbClr val="8A97AD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202936" y="2468880"/>
            <a:ext cx="2011680" cy="1783080"/>
          </a:xfrm>
          <a:prstGeom prst="roundRect">
            <a:avLst>
              <a:gd name="adj" fmla="val 6154"/>
            </a:avLst>
          </a:prstGeom>
          <a:solidFill>
            <a:srgbClr val="EAF7F5"/>
          </a:solidFill>
          <a:ln w="12700">
            <a:solidFill>
              <a:srgbClr val="B7DDD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49240" y="261518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0F8A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CAPTURA · ens37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5349240" y="28895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31B2E"/>
                </a:solidFill>
              </a:rPr>
              <a:t>Dos fuentes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349240" y="3255264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5506A"/>
                </a:solidFill>
              </a:rPr>
              <a:t>NIC sin IP, promiscua.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5506A"/>
                </a:solidFill>
              </a:rPr>
              <a:t>· tcpdump → PCAP (rota 15 s)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5506A"/>
                </a:solidFill>
              </a:rPr>
              <a:t>· Suricata → eve.json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260336" y="3360420"/>
            <a:ext cx="246888" cy="0"/>
          </a:xfrm>
          <a:prstGeom prst="line">
            <a:avLst/>
          </a:prstGeom>
          <a:noFill/>
          <a:ln w="22225">
            <a:solidFill>
              <a:srgbClr val="8A97AD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552944" y="2468880"/>
            <a:ext cx="2011680" cy="1783080"/>
          </a:xfrm>
          <a:prstGeom prst="roundRect">
            <a:avLst>
              <a:gd name="adj" fmla="val 6154"/>
            </a:avLst>
          </a:prstGeom>
          <a:solidFill>
            <a:srgbClr val="F4F6FA"/>
          </a:solidFill>
          <a:ln w="12700">
            <a:solidFill>
              <a:srgbClr val="DFE5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99248" y="261518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7B87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VENTANAS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7699248" y="28895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31B2E"/>
                </a:solidFill>
              </a:rPr>
              <a:t>Por IP · 10/30/60 s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7699248" y="3255264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5506A"/>
                </a:solidFill>
              </a:rPr>
              <a:t>Agrupa por IP en ventanas y calcula 28 variables por ventana.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610344" y="3360420"/>
            <a:ext cx="246888" cy="0"/>
          </a:xfrm>
          <a:prstGeom prst="line">
            <a:avLst/>
          </a:prstGeom>
          <a:noFill/>
          <a:ln w="22225">
            <a:solidFill>
              <a:srgbClr val="8A97AD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902952" y="2468880"/>
            <a:ext cx="2011680" cy="1783080"/>
          </a:xfrm>
          <a:prstGeom prst="roundRect">
            <a:avLst>
              <a:gd name="adj" fmla="val 6154"/>
            </a:avLst>
          </a:prstGeom>
          <a:solidFill>
            <a:srgbClr val="F4F6FA"/>
          </a:solidFill>
          <a:ln w="12700">
            <a:solidFill>
              <a:srgbClr val="DFE5E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049256" y="261518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7B87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 + MODELO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10049256" y="28895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31B2E"/>
                </a:solidFill>
              </a:rPr>
              <a:t>Decisión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10049256" y="3255264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5506A"/>
                </a:solidFill>
              </a:rPr>
              <a:t>Línea base → IsolationForest + heurísticos. Una decisión por ventana.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2920" y="4617720"/>
            <a:ext cx="11411712" cy="868680"/>
          </a:xfrm>
          <a:prstGeom prst="roundRect">
            <a:avLst>
              <a:gd name="adj" fmla="val 12632"/>
            </a:avLst>
          </a:prstGeom>
          <a:solidFill>
            <a:srgbClr val="F4F6FA"/>
          </a:solidFill>
          <a:ln w="12700">
            <a:solidFill>
              <a:srgbClr val="DFE5E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1520" y="47548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1B2E"/>
                </a:solidFill>
              </a:rPr>
              <a:t>Normal = la línea base que el modelo aprende como esperado.   Anómalo = lo que se desvía de ella (o cruza un umbral heurístico).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31520" y="51023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</a:rPr>
              <a:t>El sensor nunca está en línea: solo observa por el espejo. La respuesta (LIMIT/BLOCK) la aplica el host desde un feed firmado.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66928" y="493776"/>
            <a:ext cx="11018520" cy="53035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900" b="1" dirty="0">
                <a:solidFill>
                  <a:srgbClr val="13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Comandos usados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9728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0F8A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  ·  desde la VM de clientes (10.10.20.20)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11064240" cy="1572768"/>
          </a:xfrm>
          <a:prstGeom prst="roundRect">
            <a:avLst>
              <a:gd name="adj" fmla="val 5814"/>
            </a:avLst>
          </a:prstGeom>
          <a:solidFill>
            <a:srgbClr val="0B1220"/>
          </a:solidFill>
          <a:ln w="12700">
            <a:solidFill>
              <a:srgbClr val="1723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517904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7D4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arranca los 6 perfiles (uno por IP .21-.26)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7D4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systemctl start cyberflow-lab.target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7D4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 un perfil concreto: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7D4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clientes_lab.py --perfil ofimatica  --origen 10.10.20.21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7D4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clientes_lab.py --perfil navegacion --origen 10.10.20.22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7D4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descargas .23 - aplicacion .24 - ligero .25 - erratico .26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7D4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dominios internos:  *.francos-sac.com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3127248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B9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ANÓMALO  ·  desde la Kali (10.10.20.30), por terminal SSH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3383280"/>
            <a:ext cx="11064240" cy="2944368"/>
          </a:xfrm>
          <a:prstGeom prst="roundRect">
            <a:avLst>
              <a:gd name="adj" fmla="val 3106"/>
            </a:avLst>
          </a:prstGeom>
          <a:solidFill>
            <a:srgbClr val="0B1220"/>
          </a:solidFill>
          <a:ln w="12700">
            <a:solidFill>
              <a:srgbClr val="1723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6384" y="3493008"/>
            <a:ext cx="106984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7D4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acceso a la Kali: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7D4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 -t gadmin@10.10.10.30 "ssh -i ~/.ssh/cyberflow-to-atacante adminatacante@10.10.20.30"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7D4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1) Escaneo de puertos  -&gt; BLOCK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7D4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 -sT -T4 --max-retries 1 -p 1-3000 --open 10.10.30.10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7D4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 -sT -T5 --min-rate 1500 -p- --open 10.10.30.10          # rango completo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7D4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2) DGA / DNS de alta entropia  -&gt; LIMIT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7D4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$(seq 1 80); do r=$(head -c6 /dev/urandom|od -An -tx1|tr -d " ");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7D4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dig +short $r.francos-sac.com @10.10.10.20; sleep 0.5; done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7D4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3) Flood HTTP  -&gt; LIMIT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7D4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 1 250 | xargs -P10 -I{} curl -s -o /dev/null http://10.10.30.10/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7D4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4) Fuerza bruta HTTP  -&gt; BLOCK   (endpoint 401 en srv-dmz:8081)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7D4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$(seq 1 50); do curl -s -o /dev/null -u admin:wrong$i http://10.10.30.10:8081/; sleep 0.4; done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7D4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verificar el corte:  open -&gt; filtered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7D4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 -Pn -p80,443 10.10.30.10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2026-10-15T07:34:34Z</dcterms:created>
  <dcterms:modified xsi:type="dcterms:W3CDTF">2026-10-15T07:34:34Z</dcterms:modified>
</cp:coreProperties>
</file>