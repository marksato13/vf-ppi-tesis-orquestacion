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fe1938e5-43ad-6640-cef6-13774d9d54ce}">
          <p14:sldIdLst>
            <p14:sldId id="256"/>
            <p14:sldId id="257"/>
            <p14:sldId id="258"/>
          </p14:sldIdLst>
        </p14:section>
        <p14:section name="Método" id="{03f4f1aa-3c9c-dc1f-3b73-b77d24c8ba93}">
          <p14:sldIdLst>
            <p14:sldId id="259"/>
            <p14:sldId id="260"/>
            <p14:sldId id="261"/>
          </p14:sldIdLst>
        </p14:section>
        <p14:section name="Sistema en vivo" id="{ef55e7fc-ac52-1107-a80a-344ccb879009}">
          <p14:sldIdLst>
            <p14:sldId id="262"/>
          </p14:sldIdLst>
        </p14:section>
        <p14:section name="Resultados" id="{71b1c0f9-1bd6-9835-cf46-0c91380740b3}">
          <p14:sldIdLst>
            <p14:sldId id="263"/>
            <p14:sldId id="264"/>
          </p14:sldIdLst>
        </p14:section>
        <p14:section name="Demostración" id="{591eb5d8-db09-7ed2-7f99-52300df3e897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1 minuto. Presentar CyberFlow como complemento de Suricata y del firewall, no como sustituto. Anticipar que la presentacion es breve y que la evidencia tecnica se mostrara dentro de la GUI, Kali y la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2 a 3 minutos. No leer los cinco objetivos completos; decir los verbos: caracterizar, evaluar, integrar, comparar y validar. Cierre: ahora mostraremos como cada objetivo se convirtio en una parte observable del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1 minuto. Declarar el alcance de forma explicita: CyberFlow observa las capas de red, transporte y aplicacion sobre IPv4, mediante un puerto espejo SPAN y en paralelo, no en linea; por eso no corta en ruta sino que la respuesta se aplica en el host protegido. La capa 2 (ARP) e IPv6 quedan declarados como trabajo futuro. Responde a la observacion de la validacion interna sobre delimitar el alcance.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3 a 4 minutos. Insertar aqui fotos reales de los switches, del host ESXi y del sensor. Explicar VLAN 20, VLAN 30 y gestion; luego el puerto SPAN, el port group promiscuo y la NIC ens37 sin IP. Al terminar abrir en la GUI la vista Red y captura para recorrer la topologia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4 minutos. Explicar la prevencion de fuga temporal y por que el test no entrena. Enfatizar que el modelo no aprende en tiempo real: se entrena por lotes, se evalua y solo una persona puede promoverlo. Al terminar, abrir la seccion Construccion y entrenamiento de la GUI.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5 minutos. Explicar primero los datos: 65 421 ventanas normales y 84 de ataque. Luego las dos comparaciones: umbral propio para medir transferencia y FPR comun del 5 por ciento para comparar arquitectura. El OCSVM detecta todo solo porque marca 99,57 por ciento del trafico normal; a FPR justo detecta cero. El IF recalibrado obtiene ROC-AUC 0,923, PR-AUC 0,203, FPR 4,45 por ciento y deteccion 66,7 por ciento a igual FPR.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6 a 8 minutos. Salir de la presentacion y abrir la GUI. Recorrido recomendado: Topologia y flujo; Datos en vivo para mostrar PCAP y eve.json como fuentes separadas; Decision para mostrar modelo y heuristicos; Alertas, Scores y Bloqueos. Aclarar que Bloqueos reconstruye el estado desde el registro y el feed, no consulta directamente nftables remoto.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4 minutos. Aclarar primero la arquitectura: la Suricata de Sensor1 corre en vivo como fuente de eventos EVE, pero no carga reglas de alerta. La comparacion de IDS usa la VM-SURICATA con ET Open y replay del mismo PCAP. Suricata detecta Nikto con firma y cero de tres en DNS, flood y escaneo; CyberFlow detecta las cuatro familias. En trafico benigno de clientes Suricata obtuvo cero falsos positivos de firma; CyberFlow acepta un FPR de modelo de 4,45 por ciento, pero lo acota a LIMIT. Los heuristicos de alta confianza que llevan a BLOCK tuvieron cero falsos positivos en esta medicion.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2 minutos. Suricata pregunta si el trafico coincide con una firma conocida; por eso es preciso y rapido cuando existe una regla aplicable. CyberFlow pregunta si el trafico se desvia de la linea base o activa un patron; por eso amplia la cobertura sin firma y genera LIMIT o BLOCK segun la confianza. La conclusion es complementariedad, no sustitucion.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8 minutos de demo y hasta 7 minutos de preguntas. Orden: comprobar 443 open; lanzar nmap; mostrar Alertas, Decisiones y Scores; esperar el ciclo del feed y agente; mostrar Bloqueos; verificar nftables directamente en srv-dmz; repetir nmap y comprobar filtered. Si algo falla, usar el video de respaldo. No decir que el panel lee nftables remoto: la prueba directa se hace en terminal. Cerrar solicitando a los expertos evaluar entorno, producto, trazabilidad y limites declarados.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0F8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CYBERFLOW  ·  VALIDACIÓN TÉCNICA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66928" y="493776"/>
            <a:ext cx="11018520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9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9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651052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D"/>
                </a:solidFill>
              </a:rPr>
              <a:t>CyberFlow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79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5CE1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CYBERFLOW  ·  VALIDACIÓN TÉCNICA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66928" y="493776"/>
            <a:ext cx="11018520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9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651052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0AA"/>
                </a:solidFill>
              </a:rPr>
              <a:t>CyberFlow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290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79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-1051560"/>
            <a:ext cx="4937760" cy="4937760"/>
          </a:xfrm>
          <a:prstGeom prst="ellipse">
            <a:avLst/>
          </a:prstGeom>
          <a:solidFill>
            <a:srgbClr val="0F8A7D">
              <a:alpha val="28000"/>
            </a:srgbClr>
          </a:solidFill>
          <a:ln w="12700">
            <a:solidFill>
              <a:srgbClr val="0F8A7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38360" y="1828800"/>
            <a:ext cx="3474720" cy="3474720"/>
          </a:xfrm>
          <a:prstGeom prst="ellipse">
            <a:avLst/>
          </a:prstGeom>
          <a:solidFill>
            <a:srgbClr val="6D28D9">
              <a:alpha val="20000"/>
            </a:srgbClr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914400"/>
            <a:ext cx="118872" cy="118872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1234440"/>
            <a:ext cx="118872" cy="118872"/>
          </a:xfrm>
          <a:prstGeom prst="ellipse">
            <a:avLst/>
          </a:prstGeom>
          <a:solidFill>
            <a:srgbClr val="5CE1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36408" y="1289304"/>
            <a:ext cx="804672" cy="-256032"/>
          </a:xfrm>
          <a:prstGeom prst="line">
            <a:avLst/>
          </a:prstGeom>
          <a:noFill/>
          <a:ln w="15240">
            <a:solidFill>
              <a:srgbClr val="37506F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914400"/>
            <a:ext cx="118872" cy="118872"/>
          </a:xfrm>
          <a:prstGeom prst="ellipse">
            <a:avLst/>
          </a:prstGeom>
          <a:solidFill>
            <a:srgbClr val="5CE1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96528" y="969264"/>
            <a:ext cx="804672" cy="256032"/>
          </a:xfrm>
          <a:prstGeom prst="line">
            <a:avLst/>
          </a:prstGeom>
          <a:noFill/>
          <a:ln w="15240">
            <a:solidFill>
              <a:srgbClr val="37506F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61320" y="1234440"/>
            <a:ext cx="118872" cy="118872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56648" y="1289304"/>
            <a:ext cx="804672" cy="-256032"/>
          </a:xfrm>
          <a:prstGeom prst="line">
            <a:avLst/>
          </a:prstGeom>
          <a:noFill/>
          <a:ln w="15240">
            <a:solidFill>
              <a:srgbClr val="37506F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2743200"/>
            <a:ext cx="118872" cy="118872"/>
          </a:xfrm>
          <a:prstGeom prst="ellipse">
            <a:avLst/>
          </a:prstGeom>
          <a:solidFill>
            <a:srgbClr val="5CE1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76288" y="2798064"/>
            <a:ext cx="804672" cy="256032"/>
          </a:xfrm>
          <a:prstGeom prst="line">
            <a:avLst/>
          </a:prstGeom>
          <a:noFill/>
          <a:ln w="15240">
            <a:solidFill>
              <a:srgbClr val="37506F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41080" y="3063240"/>
            <a:ext cx="118872" cy="118872"/>
          </a:xfrm>
          <a:prstGeom prst="ellipse">
            <a:avLst/>
          </a:prstGeom>
          <a:solidFill>
            <a:srgbClr val="5CE1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36408" y="3118104"/>
            <a:ext cx="804672" cy="-256032"/>
          </a:xfrm>
          <a:prstGeom prst="line">
            <a:avLst/>
          </a:prstGeom>
          <a:noFill/>
          <a:ln w="15240">
            <a:solidFill>
              <a:srgbClr val="37506F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0" y="2743200"/>
            <a:ext cx="118872" cy="118872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96528" y="2798064"/>
            <a:ext cx="804672" cy="256032"/>
          </a:xfrm>
          <a:prstGeom prst="line">
            <a:avLst/>
          </a:prstGeom>
          <a:noFill/>
          <a:ln w="15240">
            <a:solidFill>
              <a:srgbClr val="37506F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61320" y="3063240"/>
            <a:ext cx="118872" cy="118872"/>
          </a:xfrm>
          <a:prstGeom prst="ellipse">
            <a:avLst/>
          </a:prstGeom>
          <a:solidFill>
            <a:srgbClr val="5CE1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56648" y="3118104"/>
            <a:ext cx="804672" cy="-256032"/>
          </a:xfrm>
          <a:prstGeom prst="line">
            <a:avLst/>
          </a:prstGeom>
          <a:noFill/>
          <a:ln w="15240">
            <a:solidFill>
              <a:srgbClr val="37506F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" y="109728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CYBERFLOW</a:t>
            </a:r>
            <a:endParaRPr lang="en-US" sz="45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1938528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5E3F2"/>
                </a:solidFill>
              </a:rPr>
              <a:t>Detección conductual y respuesta graduada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D5E3F2"/>
                </a:solidFill>
              </a:rPr>
              <a:t>en redes segmentadas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31520" y="3273552"/>
            <a:ext cx="1280160" cy="310896"/>
          </a:xfrm>
          <a:prstGeom prst="roundRect">
            <a:avLst>
              <a:gd name="adj" fmla="val 47059"/>
            </a:avLst>
          </a:prstGeom>
          <a:solidFill>
            <a:srgbClr val="13343B"/>
          </a:solidFill>
          <a:ln w="12700">
            <a:solidFill>
              <a:srgbClr val="2A7F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329184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E0EA"/>
                </a:solidFill>
              </a:rPr>
              <a:t>DETECTA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48840" y="3273552"/>
            <a:ext cx="1280160" cy="310896"/>
          </a:xfrm>
          <a:prstGeom prst="roundRect">
            <a:avLst>
              <a:gd name="adj" fmla="val 47059"/>
            </a:avLst>
          </a:prstGeom>
          <a:solidFill>
            <a:srgbClr val="13343B"/>
          </a:solidFill>
          <a:ln w="12700">
            <a:solidFill>
              <a:srgbClr val="2A7F8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221992" y="329184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E0EA"/>
                </a:solidFill>
              </a:rPr>
              <a:t>DECIDE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566160" y="3273552"/>
            <a:ext cx="1508760" cy="310896"/>
          </a:xfrm>
          <a:prstGeom prst="roundRect">
            <a:avLst>
              <a:gd name="adj" fmla="val 47059"/>
            </a:avLst>
          </a:prstGeom>
          <a:solidFill>
            <a:srgbClr val="3A1B20"/>
          </a:solidFill>
          <a:ln w="12700">
            <a:solidFill>
              <a:srgbClr val="7A2B3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39312" y="3291840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9898"/>
                </a:solidFill>
              </a:rPr>
              <a:t>RESPONDE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404164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84B"/>
                </a:solidFill>
              </a:rPr>
              <a:t>Validación técnica interna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4526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EB0CA"/>
                </a:solidFill>
              </a:rPr>
              <a:t>Mark  ·  Uziel</a:t>
            </a:r>
            <a:endParaRPr lang="en-US" sz="1500" dirty="0"/>
          </a:p>
        </p:txBody>
      </p:sp>
      <p:pic>
        <p:nvPicPr>
          <p:cNvPr id="29" name="Image 0" descr="C:\Users\markp\Desktop\PY-MEGATRON\PY - PERSONAL\TESIS\CYBERFLOW\orquestacion-limpio\03-entregables\assets\logo-upe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373864"/>
            <a:ext cx="1389888" cy="334800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713232" y="598932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29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 open-source · modelo + heurísticos · feed firmado · nftables</a:t>
            </a:r>
            <a:endParaRPr lang="en-US" sz="1050" dirty="0"/>
          </a:p>
        </p:txBody>
      </p:sp>
      <p:sp>
        <p:nvSpPr>
          <p:cNvPr id="32" name="Text 1"/>
          <p:cNvSpPr/>
          <p:nvPr>
            <p:ph idx="101" type="title" hasCustomPrompt="1"/>
          </p:nvPr>
        </p:nvSpPr>
        <p:spPr>
          <a:xfrm>
            <a:off x="566928" y="493776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2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290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493776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9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problema a los objetivos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21792" y="1298448"/>
            <a:ext cx="4718304" cy="2761488"/>
          </a:xfrm>
          <a:prstGeom prst="roundRect">
            <a:avLst>
              <a:gd name="adj" fmla="val 4636"/>
            </a:avLst>
          </a:prstGeom>
          <a:solidFill>
            <a:srgbClr val="131B2E"/>
          </a:solidFill>
          <a:ln w="12700">
            <a:solidFill>
              <a:srgbClr val="131B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5727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5CE1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PROBLEMA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9659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firmas reconocen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conocido.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44368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4E5"/>
                </a:solidFill>
              </a:rPr>
              <a:t>Pero detectar una anomalía no garantiza una respuesta oportuna ni trazable.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596128" y="1298448"/>
            <a:ext cx="5961888" cy="2761488"/>
          </a:xfrm>
          <a:prstGeom prst="roundRect">
            <a:avLst>
              <a:gd name="adj" fmla="val 4636"/>
            </a:avLst>
          </a:prstGeom>
          <a:solidFill>
            <a:srgbClr val="EAF7F5"/>
          </a:solidFill>
          <a:ln w="12700">
            <a:solidFill>
              <a:srgbClr val="B7DD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25312" y="15727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F8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 GENERAL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925312" y="1938528"/>
            <a:ext cx="5138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Desarrollar y validar un sistema open-source que combine análisis conductual, heurísticos y respuesta graduada en una red segmentada.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925312" y="352958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8C"/>
                </a:solidFill>
              </a:rPr>
              <a:t>Pregunta guía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150608" y="3465576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8A7D"/>
                </a:solidFill>
              </a:rPr>
              <a:t>¿Cómo convertir tráfico observado en una decisión verificable?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" y="4370832"/>
            <a:ext cx="1993392" cy="1234440"/>
          </a:xfrm>
          <a:prstGeom prst="roundRect">
            <a:avLst>
              <a:gd name="adj" fmla="val 10370"/>
            </a:avLst>
          </a:prstGeom>
          <a:solidFill>
            <a:srgbClr val="F4F6FA"/>
          </a:solidFill>
          <a:ln w="12700">
            <a:solidFill>
              <a:srgbClr val="DFE5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451713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7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48280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Caracterizar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514807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</a:rPr>
              <a:t>tráfico y línea base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843784" y="4370832"/>
            <a:ext cx="1993392" cy="1234440"/>
          </a:xfrm>
          <a:prstGeom prst="roundRect">
            <a:avLst>
              <a:gd name="adj" fmla="val 10370"/>
            </a:avLst>
          </a:prstGeom>
          <a:solidFill>
            <a:srgbClr val="F4F6FA"/>
          </a:solidFill>
          <a:ln w="12700">
            <a:solidFill>
              <a:srgbClr val="DFE5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008376" y="451713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7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008376" y="48280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Evaluar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008376" y="514807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</a:rPr>
              <a:t>modelo y umbral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65776" y="4370832"/>
            <a:ext cx="1993392" cy="1234440"/>
          </a:xfrm>
          <a:prstGeom prst="roundRect">
            <a:avLst>
              <a:gd name="adj" fmla="val 10370"/>
            </a:avLst>
          </a:prstGeom>
          <a:solidFill>
            <a:srgbClr val="EAF7F5"/>
          </a:solidFill>
          <a:ln w="12700">
            <a:solidFill>
              <a:srgbClr val="B7DD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30368" y="451713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8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230368" y="48280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Integrar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230368" y="514807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</a:rPr>
              <a:t>detección y respuesta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87768" y="4370832"/>
            <a:ext cx="1993392" cy="1234440"/>
          </a:xfrm>
          <a:prstGeom prst="roundRect">
            <a:avLst>
              <a:gd name="adj" fmla="val 10370"/>
            </a:avLst>
          </a:prstGeom>
          <a:solidFill>
            <a:srgbClr val="F4F6FA"/>
          </a:solidFill>
          <a:ln w="12700">
            <a:solidFill>
              <a:srgbClr val="DFE5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52360" y="451713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7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48280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Comparar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514807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</a:rPr>
              <a:t>con Suricata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509760" y="4370832"/>
            <a:ext cx="1993392" cy="1234440"/>
          </a:xfrm>
          <a:prstGeom prst="roundRect">
            <a:avLst>
              <a:gd name="adj" fmla="val 10370"/>
            </a:avLst>
          </a:prstGeom>
          <a:solidFill>
            <a:srgbClr val="F4F6FA"/>
          </a:solidFill>
          <a:ln w="12700">
            <a:solidFill>
              <a:srgbClr val="DFE5E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74352" y="451713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7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674352" y="48280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Validar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674352" y="514807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</a:rPr>
              <a:t>con evidencia y expertos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79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493776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9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del análisis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1060704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C"/>
                </a:solidFill>
              </a:rPr>
              <a:t>Qué observa CyberFlow y qué queda fuera — declarado, no implícito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481328"/>
            <a:ext cx="5394960" cy="3767328"/>
          </a:xfrm>
          <a:prstGeom prst="roundRect">
            <a:avLst>
              <a:gd name="adj" fmla="val 3398"/>
            </a:avLst>
          </a:prstGeom>
          <a:solidFill>
            <a:srgbClr val="EAF7F5"/>
          </a:solidFill>
          <a:ln w="12700">
            <a:solidFill>
              <a:srgbClr val="B7DD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F8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ANALIZA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32688" y="2267712"/>
            <a:ext cx="109728" cy="109728"/>
          </a:xfrm>
          <a:prstGeom prst="ellipse">
            <a:avLst/>
          </a:prstGeom>
          <a:solidFill>
            <a:srgbClr val="0F8A7D"/>
          </a:solidFill>
          <a:ln w="12700">
            <a:solidFill>
              <a:srgbClr val="0F8A7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19456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1B2E"/>
                </a:solidFill>
              </a:rPr>
              <a:t>Capas OSI: </a:t>
            </a:r>
            <a:pPr indent="0" marL="0">
              <a:buNone/>
            </a:pPr>
            <a:r>
              <a:rPr lang="en-US" sz="1250" dirty="0">
                <a:solidFill>
                  <a:srgbClr val="2B3850"/>
                </a:solidFill>
              </a:rPr>
              <a:t>red (L3), transporte (L4) y aplicación (L7)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32688" y="2852928"/>
            <a:ext cx="109728" cy="109728"/>
          </a:xfrm>
          <a:prstGeom prst="ellipse">
            <a:avLst/>
          </a:prstGeom>
          <a:solidFill>
            <a:srgbClr val="0F8A7D"/>
          </a:solidFill>
          <a:ln w="12700">
            <a:solidFill>
              <a:srgbClr val="0F8A7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88720" y="277977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1B2E"/>
                </a:solidFill>
              </a:rPr>
              <a:t>Protocolo: </a:t>
            </a:r>
            <a:pPr indent="0" marL="0">
              <a:buNone/>
            </a:pPr>
            <a:r>
              <a:rPr lang="en-US" sz="1250" dirty="0">
                <a:solidFill>
                  <a:srgbClr val="2B3850"/>
                </a:solidFill>
              </a:rPr>
              <a:t>IPv4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32688" y="3438144"/>
            <a:ext cx="109728" cy="109728"/>
          </a:xfrm>
          <a:prstGeom prst="ellipse">
            <a:avLst/>
          </a:prstGeom>
          <a:solidFill>
            <a:srgbClr val="0F8A7D"/>
          </a:solidFill>
          <a:ln w="12700">
            <a:solidFill>
              <a:srgbClr val="0F8A7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88720" y="3364992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1B2E"/>
                </a:solidFill>
              </a:rPr>
              <a:t>Tráfico: </a:t>
            </a:r>
            <a:pPr indent="0" marL="0">
              <a:buNone/>
            </a:pPr>
            <a:r>
              <a:rPr lang="en-US" sz="1250" dirty="0">
                <a:solidFill>
                  <a:srgbClr val="2B3850"/>
                </a:solidFill>
              </a:rPr>
              <a:t>de la LAN y el que va hacia Internet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32688" y="4023360"/>
            <a:ext cx="109728" cy="109728"/>
          </a:xfrm>
          <a:prstGeom prst="ellipse">
            <a:avLst/>
          </a:prstGeom>
          <a:solidFill>
            <a:srgbClr val="0F8A7D"/>
          </a:solidFill>
          <a:ln w="12700">
            <a:solidFill>
              <a:srgbClr val="0F8A7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88720" y="395020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1B2E"/>
                </a:solidFill>
              </a:rPr>
              <a:t>Captura: </a:t>
            </a:r>
            <a:pPr indent="0" marL="0">
              <a:buNone/>
            </a:pPr>
            <a:r>
              <a:rPr lang="en-US" sz="1250" dirty="0">
                <a:solidFill>
                  <a:srgbClr val="2B3850"/>
                </a:solidFill>
              </a:rPr>
              <a:t>puerto espejo (SPAN), en paralelo — no en línea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32688" y="4608576"/>
            <a:ext cx="109728" cy="109728"/>
          </a:xfrm>
          <a:prstGeom prst="ellipse">
            <a:avLst/>
          </a:prstGeom>
          <a:solidFill>
            <a:srgbClr val="0F8A7D"/>
          </a:solidFill>
          <a:ln w="12700">
            <a:solidFill>
              <a:srgbClr val="0F8A7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88720" y="4535424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1B2E"/>
                </a:solidFill>
              </a:rPr>
              <a:t>Respuesta: </a:t>
            </a:r>
            <a:pPr indent="0" marL="0">
              <a:buNone/>
            </a:pPr>
            <a:r>
              <a:rPr lang="en-US" sz="1250" dirty="0">
                <a:solidFill>
                  <a:srgbClr val="2B3850"/>
                </a:solidFill>
              </a:rPr>
              <a:t>LIMIT / BLOCK aplicada en el host protegido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1481328"/>
            <a:ext cx="5394960" cy="3767328"/>
          </a:xfrm>
          <a:prstGeom prst="roundRect">
            <a:avLst>
              <a:gd name="adj" fmla="val 3398"/>
            </a:avLst>
          </a:prstGeom>
          <a:solidFill>
            <a:srgbClr val="F3F6FA"/>
          </a:solidFill>
          <a:ln w="12700">
            <a:solidFill>
              <a:srgbClr val="D8DF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64808" y="17373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FUERA DE ALCANCE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83096" y="2267712"/>
            <a:ext cx="109728" cy="10972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39128" y="219456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1B2E"/>
                </a:solidFill>
              </a:rPr>
              <a:t>Capa 2 (enlace, ARP): </a:t>
            </a:r>
            <a:pPr indent="0" marL="0">
              <a:buNone/>
            </a:pPr>
            <a:r>
              <a:rPr lang="en-US" sz="1250" dirty="0">
                <a:solidFill>
                  <a:srgbClr val="2B3850"/>
                </a:solidFill>
              </a:rPr>
              <a:t>no se inspecciona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83096" y="2852928"/>
            <a:ext cx="109728" cy="10972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39128" y="277977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1B2E"/>
                </a:solidFill>
              </a:rPr>
              <a:t>IPv6: </a:t>
            </a:r>
            <a:pPr indent="0" marL="0">
              <a:buNone/>
            </a:pPr>
            <a:r>
              <a:rPr lang="en-US" sz="1250" dirty="0">
                <a:solidFill>
                  <a:srgbClr val="2B3850"/>
                </a:solidFill>
              </a:rPr>
              <a:t>no se inspecciona — trabajo futuro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83096" y="3438144"/>
            <a:ext cx="109728" cy="10972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39128" y="3364992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1B2E"/>
                </a:solidFill>
              </a:rPr>
              <a:t>Modo en línea: </a:t>
            </a:r>
            <a:pPr indent="0" marL="0">
              <a:buNone/>
            </a:pPr>
            <a:r>
              <a:rPr lang="en-US" sz="1250" dirty="0">
                <a:solidFill>
                  <a:srgbClr val="2B3850"/>
                </a:solidFill>
              </a:rPr>
              <a:t>con SPAN el sensor no corta en ruta; observa en paralelo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" y="5449824"/>
            <a:ext cx="10936224" cy="749808"/>
          </a:xfrm>
          <a:prstGeom prst="roundRect">
            <a:avLst>
              <a:gd name="adj" fmla="val 17073"/>
            </a:avLst>
          </a:prstGeom>
          <a:solidFill>
            <a:srgbClr val="131B2E"/>
          </a:solidFill>
          <a:ln w="12700">
            <a:solidFill>
              <a:srgbClr val="131B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5577840"/>
            <a:ext cx="10332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CyberFlow analiza L3/L4/L7 sobre IPv4 por puerto espejo (SPAN), en paralelo; la capa 2 e IPv6 quedan como trabajo futuro.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703320" y="6492240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D"/>
                </a:solidFill>
              </a:rPr>
              <a:t>Alcance declarado · coherente con la sección “Alcance del análisis” del panel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79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493776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9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Entorno experimental y captura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106070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C"/>
                </a:solidFill>
              </a:rPr>
              <a:t>Primero se levantó la red; después se construyó el detector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481328"/>
            <a:ext cx="3346704" cy="3017520"/>
          </a:xfrm>
          <a:prstGeom prst="roundRect">
            <a:avLst>
              <a:gd name="adj" fmla="val 4242"/>
            </a:avLst>
          </a:prstGeom>
          <a:solidFill>
            <a:srgbClr val="F4F6FA"/>
          </a:solidFill>
          <a:ln w="12700">
            <a:solidFill>
              <a:srgbClr val="D8DF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19072"/>
            <a:ext cx="2944368" cy="1481328"/>
          </a:xfrm>
          <a:prstGeom prst="rect">
            <a:avLst/>
          </a:prstGeom>
          <a:solidFill>
            <a:srgbClr val="FFFFFF"/>
          </a:solidFill>
          <a:ln w="15240">
            <a:solidFill>
              <a:srgbClr val="C3CC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1920240"/>
            <a:ext cx="2487168" cy="1078992"/>
          </a:xfrm>
          <a:prstGeom prst="line">
            <a:avLst/>
          </a:prstGeom>
          <a:noFill/>
          <a:ln w="12700">
            <a:solidFill>
              <a:srgbClr val="D8DF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29584" y="1920240"/>
            <a:ext cx="-2487168" cy="1078992"/>
          </a:xfrm>
          <a:prstGeom prst="line">
            <a:avLst/>
          </a:prstGeom>
          <a:noFill/>
          <a:ln w="12700">
            <a:solidFill>
              <a:srgbClr val="D8DF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52144" y="22402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B87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ESPACIO PARA FOTO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447288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8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33741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B2E"/>
                </a:solidFill>
              </a:rPr>
              <a:t>CORE-STACK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76732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8A7D"/>
                </a:solidFill>
              </a:rPr>
              <a:t>Switches físicos · troncales VLAN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40507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</a:rPr>
              <a:t>VLAN 20 usuarios · VLAN 30 DMZ · VLAN 10 gestión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25696" y="1481328"/>
            <a:ext cx="3346704" cy="3017520"/>
          </a:xfrm>
          <a:prstGeom prst="roundRect">
            <a:avLst>
              <a:gd name="adj" fmla="val 4242"/>
            </a:avLst>
          </a:prstGeom>
          <a:solidFill>
            <a:srgbClr val="EAF7F5"/>
          </a:solidFill>
          <a:ln w="12700">
            <a:solidFill>
              <a:srgbClr val="B7DD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6864" y="1719072"/>
            <a:ext cx="2944368" cy="1481328"/>
          </a:xfrm>
          <a:prstGeom prst="rect">
            <a:avLst/>
          </a:prstGeom>
          <a:solidFill>
            <a:srgbClr val="FFFFFF"/>
          </a:solidFill>
          <a:ln w="15240">
            <a:solidFill>
              <a:srgbClr val="91CC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920240"/>
            <a:ext cx="2487168" cy="1078992"/>
          </a:xfrm>
          <a:prstGeom prst="line">
            <a:avLst/>
          </a:prstGeom>
          <a:noFill/>
          <a:ln w="12700">
            <a:solidFill>
              <a:srgbClr val="D8DF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33488" y="1920240"/>
            <a:ext cx="-2487168" cy="1078992"/>
          </a:xfrm>
          <a:prstGeom prst="line">
            <a:avLst/>
          </a:prstGeom>
          <a:noFill/>
          <a:ln w="12700">
            <a:solidFill>
              <a:srgbClr val="D8DF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56048" y="22402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B87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ESPACIO PARA FOTO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645152" y="3447288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8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065776" y="33741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B2E"/>
                </a:solidFill>
              </a:rPr>
              <a:t>HOST ESXi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645152" y="376732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8A7D"/>
                </a:solidFill>
              </a:rPr>
              <a:t>PG-CYBERFLOW-SPAN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645152" y="40507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</a:rPr>
              <a:t>Modo promiscuo · copia entregada a los sensores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0" y="1481328"/>
            <a:ext cx="3346704" cy="3017520"/>
          </a:xfrm>
          <a:prstGeom prst="roundRect">
            <a:avLst>
              <a:gd name="adj" fmla="val 4242"/>
            </a:avLst>
          </a:prstGeom>
          <a:solidFill>
            <a:srgbClr val="F4F6FA"/>
          </a:solidFill>
          <a:ln w="12700">
            <a:solidFill>
              <a:srgbClr val="D8DF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30768" y="1719072"/>
            <a:ext cx="2944368" cy="1481328"/>
          </a:xfrm>
          <a:prstGeom prst="rect">
            <a:avLst/>
          </a:prstGeom>
          <a:solidFill>
            <a:srgbClr val="FFFFFF"/>
          </a:solidFill>
          <a:ln w="15240">
            <a:solidFill>
              <a:srgbClr val="C3C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50224" y="1920240"/>
            <a:ext cx="2487168" cy="1078992"/>
          </a:xfrm>
          <a:prstGeom prst="line">
            <a:avLst/>
          </a:prstGeom>
          <a:noFill/>
          <a:ln w="12700">
            <a:solidFill>
              <a:srgbClr val="D8DF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37392" y="1920240"/>
            <a:ext cx="-2487168" cy="1078992"/>
          </a:xfrm>
          <a:prstGeom prst="line">
            <a:avLst/>
          </a:prstGeom>
          <a:noFill/>
          <a:ln w="12700">
            <a:solidFill>
              <a:srgbClr val="D8DF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59952" y="22402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B87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ESPACIO PARA FOTO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449056" y="3447288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8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869680" y="33741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B2E"/>
                </a:solidFill>
              </a:rPr>
              <a:t>SENSOR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8449056" y="376732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8A7D"/>
                </a:solidFill>
              </a:rPr>
              <a:t>ens37 sin IP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449056" y="40507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</a:rPr>
              <a:t>tcpdump → anillo PCAP · Suricata → eve.json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1792" y="4791456"/>
            <a:ext cx="10936224" cy="713232"/>
          </a:xfrm>
          <a:prstGeom prst="roundRect">
            <a:avLst>
              <a:gd name="adj" fmla="val 17949"/>
            </a:avLst>
          </a:prstGeom>
          <a:solidFill>
            <a:srgbClr val="131B2E"/>
          </a:solidFill>
          <a:ln w="12700">
            <a:solidFill>
              <a:srgbClr val="131B2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77824" y="5010912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 20/30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2011680" y="498348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E1D2"/>
                </a:solidFill>
              </a:rPr>
              <a:t>→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2404872" y="5010912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CORE-STACK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749040" y="500176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E1D2"/>
                </a:solidFill>
              </a:rPr>
              <a:t>→  copia SPAN  →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440680" y="5010912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 ESXi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510528" y="498348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E1D2"/>
                </a:solidFill>
              </a:rPr>
              <a:t>→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912864" y="501091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ens37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744968" y="498348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E1D2"/>
                </a:solidFill>
              </a:rPr>
              <a:t>→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8156448" y="501091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PCAP + eve.json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802368" y="4974336"/>
            <a:ext cx="1536192" cy="310896"/>
          </a:xfrm>
          <a:prstGeom prst="roundRect">
            <a:avLst>
              <a:gd name="adj" fmla="val 47059"/>
            </a:avLst>
          </a:prstGeom>
          <a:solidFill>
            <a:srgbClr val="5CE1D2"/>
          </a:solidFill>
          <a:ln w="12700">
            <a:solidFill>
              <a:srgbClr val="5CE1D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875520" y="499262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</a:rPr>
              <a:t>ABRIR GUI · RED Y CAPTURA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1417320" y="579729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C"/>
                </a:solidFill>
              </a:rPr>
              <a:t>La NIC de captura no enruta: recibe una copia del tráfico y produce dos fuentes observables.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3703320" y="6492240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D"/>
                </a:solidFill>
              </a:rPr>
              <a:t>Fotos por insertar · detalle técnico en CyberFlow → Red y captura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79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493776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9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construyó el detector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1060704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C"/>
                </a:solidFill>
              </a:rPr>
              <a:t>Una cadena reproducible: datos reales de la red → modelo congelado → despliegue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1664208" cy="932688"/>
          </a:xfrm>
          <a:prstGeom prst="roundRect">
            <a:avLst>
              <a:gd name="adj" fmla="val 13725"/>
            </a:avLst>
          </a:prstGeom>
          <a:solidFill>
            <a:srgbClr val="F3F6FA"/>
          </a:solidFill>
          <a:ln w="12700">
            <a:solidFill>
              <a:srgbClr val="D8DF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792224"/>
            <a:ext cx="365760" cy="365760"/>
          </a:xfrm>
          <a:prstGeom prst="ellipse">
            <a:avLst/>
          </a:prstGeom>
          <a:solidFill>
            <a:srgbClr val="0F8A7D"/>
          </a:solidFill>
          <a:ln w="12700">
            <a:solidFill>
              <a:srgbClr val="0F8A7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773936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Capturar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61872" y="208483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</a:rPr>
              <a:t>SPAN → PCAP + eve.json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95144" y="1938528"/>
            <a:ext cx="201168" cy="310896"/>
          </a:xfrm>
          <a:prstGeom prst="chevron">
            <a:avLst/>
          </a:prstGeom>
          <a:solidFill>
            <a:srgbClr val="B7C2D4"/>
          </a:solidFill>
          <a:ln w="12700">
            <a:solidFill>
              <a:srgbClr val="B7C2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23744" y="1627632"/>
            <a:ext cx="1664208" cy="932688"/>
          </a:xfrm>
          <a:prstGeom prst="roundRect">
            <a:avLst>
              <a:gd name="adj" fmla="val 13725"/>
            </a:avLst>
          </a:prstGeom>
          <a:solidFill>
            <a:srgbClr val="F3F6FA"/>
          </a:solidFill>
          <a:ln w="12700">
            <a:solidFill>
              <a:srgbClr val="D8DF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88336" y="1792224"/>
            <a:ext cx="365760" cy="365760"/>
          </a:xfrm>
          <a:prstGeom prst="ellipse">
            <a:avLst/>
          </a:prstGeom>
          <a:solidFill>
            <a:srgbClr val="0F8A7D"/>
          </a:solidFill>
          <a:ln w="12700">
            <a:solidFill>
              <a:srgbClr val="0F8A7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88336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163824" y="1773936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Depurar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163824" y="208483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</a:rPr>
              <a:t>sin control ni duplicados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97096" y="1938528"/>
            <a:ext cx="201168" cy="310896"/>
          </a:xfrm>
          <a:prstGeom prst="chevron">
            <a:avLst/>
          </a:prstGeom>
          <a:solidFill>
            <a:srgbClr val="B7C2D4"/>
          </a:solidFill>
          <a:ln w="12700">
            <a:solidFill>
              <a:srgbClr val="B7C2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25696" y="1627632"/>
            <a:ext cx="1664208" cy="932688"/>
          </a:xfrm>
          <a:prstGeom prst="roundRect">
            <a:avLst>
              <a:gd name="adj" fmla="val 13725"/>
            </a:avLst>
          </a:prstGeom>
          <a:solidFill>
            <a:srgbClr val="F3F6FA"/>
          </a:solidFill>
          <a:ln w="12700">
            <a:solidFill>
              <a:srgbClr val="D8DF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90288" y="1792224"/>
            <a:ext cx="365760" cy="365760"/>
          </a:xfrm>
          <a:prstGeom prst="ellipse">
            <a:avLst/>
          </a:prstGeom>
          <a:solidFill>
            <a:srgbClr val="0F8A7D"/>
          </a:solidFill>
          <a:ln w="12700">
            <a:solidFill>
              <a:srgbClr val="0F8A7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90288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65776" y="1773936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Particionar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065776" y="208483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</a:rPr>
              <a:t>bloques temporales + guarda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99048" y="1938528"/>
            <a:ext cx="201168" cy="310896"/>
          </a:xfrm>
          <a:prstGeom prst="chevron">
            <a:avLst/>
          </a:prstGeom>
          <a:solidFill>
            <a:srgbClr val="B7C2D4"/>
          </a:solidFill>
          <a:ln w="12700">
            <a:solidFill>
              <a:srgbClr val="B7C2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27648" y="1627632"/>
            <a:ext cx="1664208" cy="932688"/>
          </a:xfrm>
          <a:prstGeom prst="roundRect">
            <a:avLst>
              <a:gd name="adj" fmla="val 13725"/>
            </a:avLst>
          </a:prstGeom>
          <a:solidFill>
            <a:srgbClr val="F3F6FA"/>
          </a:solidFill>
          <a:ln w="12700">
            <a:solidFill>
              <a:srgbClr val="D8DF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1792224"/>
            <a:ext cx="365760" cy="365760"/>
          </a:xfrm>
          <a:prstGeom prst="ellipse">
            <a:avLst/>
          </a:prstGeom>
          <a:solidFill>
            <a:srgbClr val="0F8A7D"/>
          </a:solidFill>
          <a:ln w="12700">
            <a:solidFill>
              <a:srgbClr val="0F8A7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967728" y="1773936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Comparar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967728" y="208483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</a:rPr>
              <a:t>7 candidatos + métricas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01000" y="1938528"/>
            <a:ext cx="201168" cy="310896"/>
          </a:xfrm>
          <a:prstGeom prst="chevron">
            <a:avLst/>
          </a:prstGeom>
          <a:solidFill>
            <a:srgbClr val="B7C2D4"/>
          </a:solidFill>
          <a:ln w="12700">
            <a:solidFill>
              <a:srgbClr val="B7C2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1627632"/>
            <a:ext cx="1664208" cy="932688"/>
          </a:xfrm>
          <a:prstGeom prst="roundRect">
            <a:avLst>
              <a:gd name="adj" fmla="val 13725"/>
            </a:avLst>
          </a:prstGeom>
          <a:solidFill>
            <a:srgbClr val="F3F6FA"/>
          </a:solidFill>
          <a:ln w="12700">
            <a:solidFill>
              <a:srgbClr val="D8DF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94192" y="1792224"/>
            <a:ext cx="365760" cy="365760"/>
          </a:xfrm>
          <a:prstGeom prst="ellipse">
            <a:avLst/>
          </a:prstGeom>
          <a:solidFill>
            <a:srgbClr val="0F8A7D"/>
          </a:solidFill>
          <a:ln w="12700">
            <a:solidFill>
              <a:srgbClr val="0F8A7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94192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869680" y="1773936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Calibrar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869680" y="208483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</a:rPr>
              <a:t>umbral en validación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902952" y="1938528"/>
            <a:ext cx="201168" cy="310896"/>
          </a:xfrm>
          <a:prstGeom prst="chevron">
            <a:avLst/>
          </a:prstGeom>
          <a:solidFill>
            <a:srgbClr val="B7C2D4"/>
          </a:solidFill>
          <a:ln w="12700">
            <a:solidFill>
              <a:srgbClr val="B7C2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31552" y="1627632"/>
            <a:ext cx="1664208" cy="932688"/>
          </a:xfrm>
          <a:prstGeom prst="roundRect">
            <a:avLst>
              <a:gd name="adj" fmla="val 13725"/>
            </a:avLst>
          </a:prstGeom>
          <a:solidFill>
            <a:srgbClr val="F3F6FA"/>
          </a:solidFill>
          <a:ln w="12700">
            <a:solidFill>
              <a:srgbClr val="D8DF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296144" y="1792224"/>
            <a:ext cx="365760" cy="365760"/>
          </a:xfrm>
          <a:prstGeom prst="ellipse">
            <a:avLst/>
          </a:prstGeom>
          <a:solidFill>
            <a:srgbClr val="0F8A7D"/>
          </a:solidFill>
          <a:ln w="12700">
            <a:solidFill>
              <a:srgbClr val="0F8A7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296144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771632" y="1773936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Congelar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0771632" y="208483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</a:rPr>
              <a:t>hash + equivalencia + despliegue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1792" y="3035808"/>
            <a:ext cx="3200400" cy="1417320"/>
          </a:xfrm>
          <a:prstGeom prst="roundRect">
            <a:avLst>
              <a:gd name="adj" fmla="val 9032"/>
            </a:avLst>
          </a:prstGeom>
          <a:solidFill>
            <a:srgbClr val="131B2E"/>
          </a:solidFill>
          <a:ln w="12700">
            <a:solidFill>
              <a:srgbClr val="131B2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4400" y="331927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335 202</a:t>
            </a:r>
            <a:endParaRPr lang="en-US" sz="2800" dirty="0"/>
          </a:p>
        </p:txBody>
      </p:sp>
      <p:sp>
        <p:nvSpPr>
          <p:cNvPr id="41" name="Text 39"/>
          <p:cNvSpPr txBox="1"/>
          <p:nvPr/>
        </p:nvSpPr>
        <p:spPr>
          <a:xfrm>
            <a:off x="914400" y="38039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B0CA"/>
                </a:solidFill>
              </a:rPr>
              <a:t>ventanas normales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041648" y="3035808"/>
            <a:ext cx="3858768" cy="1417320"/>
          </a:xfrm>
          <a:prstGeom prst="roundRect">
            <a:avLst>
              <a:gd name="adj" fmla="val 9032"/>
            </a:avLst>
          </a:prstGeom>
          <a:solidFill>
            <a:srgbClr val="EAF7F5"/>
          </a:solidFill>
          <a:ln w="12700">
            <a:solidFill>
              <a:srgbClr val="B7DDD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297680" y="335584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8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204 148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5330952" y="335584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8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5504688" y="335584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8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65 633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6492240" y="335584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8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6711696" y="335584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8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65 421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4434840" y="382219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</a:rPr>
              <a:t>entrenamiento  ·  validación  ·  prueba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119872" y="3035808"/>
            <a:ext cx="3438144" cy="1417320"/>
          </a:xfrm>
          <a:prstGeom prst="roundRect">
            <a:avLst>
              <a:gd name="adj" fmla="val 9032"/>
            </a:avLst>
          </a:prstGeom>
          <a:solidFill>
            <a:srgbClr val="F4F0FF"/>
          </a:solidFill>
          <a:ln w="12700">
            <a:solidFill>
              <a:srgbClr val="D7C7F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430768" y="331012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→ 28</a:t>
            </a:r>
            <a:endParaRPr lang="en-US" sz="2800" dirty="0"/>
          </a:p>
        </p:txBody>
      </p:sp>
      <p:sp>
        <p:nvSpPr>
          <p:cNvPr id="51" name="Text 49"/>
          <p:cNvSpPr txBox="1"/>
          <p:nvPr/>
        </p:nvSpPr>
        <p:spPr>
          <a:xfrm>
            <a:off x="8430768" y="38039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</a:rPr>
              <a:t>extraídas → usadas por el modelo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21792" y="4828032"/>
            <a:ext cx="10936224" cy="786384"/>
          </a:xfrm>
          <a:prstGeom prst="roundRect">
            <a:avLst>
              <a:gd name="adj" fmla="val 16279"/>
            </a:avLst>
          </a:prstGeom>
          <a:solidFill>
            <a:srgbClr val="F3F6FA"/>
          </a:solidFill>
          <a:ln w="12700">
            <a:solidFill>
              <a:srgbClr val="D8DFE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96112" y="50474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8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ABRIR EN CYBERFLOW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2761488" y="4983480"/>
            <a:ext cx="8183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B2E"/>
                </a:solidFill>
              </a:rPr>
              <a:t>Construcción y entrenamiento  →  partición  →  métricas  →  congelación  →  aprobación humana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3703320" y="6492240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D"/>
                </a:solidFill>
              </a:rPr>
              <a:t>Fuente: informe de calibración y vista “Construcción y entrenamiento”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79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493776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9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de modelos sobre esta red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10607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</a:rPr>
              <a:t>Mismos datos · mismos joblib congelados · sin reentrenar durante la comparación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21792" y="1371600"/>
            <a:ext cx="6620256" cy="3529584"/>
          </a:xfrm>
          <a:prstGeom prst="roundRect">
            <a:avLst>
              <a:gd name="adj" fmla="val 3627"/>
            </a:avLst>
          </a:prstGeom>
          <a:solidFill>
            <a:srgbClr val="F7F9FC"/>
          </a:solidFill>
          <a:ln w="12700">
            <a:solidFill>
              <a:srgbClr val="DFE5EF"/>
            </a:solidFill>
            <a:prstDash val="solid"/>
          </a:ln>
        </p:spPr>
      </p:sp>
      <p:pic>
        <p:nvPicPr>
          <p:cNvPr id="5" name="Image 0" descr="C:\Users\markp\Desktop\PY-MEGATRON\PY - PERSONAL\TESIS\CYBERFLOW\orquestacion-limpio\02-metodologia\validacion-interna-profesor\comparacion-modelos-esta-red-2026-10-14\img\MC-03-metri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43432"/>
            <a:ext cx="6364224" cy="274934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" y="5102352"/>
            <a:ext cx="6620256" cy="658368"/>
          </a:xfrm>
          <a:prstGeom prst="roundRect">
            <a:avLst>
              <a:gd name="adj" fmla="val 19444"/>
            </a:avLst>
          </a:prstGeom>
          <a:solidFill>
            <a:srgbClr val="F3F6FA"/>
          </a:solidFill>
          <a:ln w="12700">
            <a:solidFill>
              <a:srgbClr val="D8DFE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" y="5321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8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PROTOCOLO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847088" y="52578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31B2E"/>
                </a:solidFill>
              </a:rPr>
              <a:t>65 421 normales + 84 ataques  ·  umbral propio: ¿transfiere?  ·  FPR común 5 %: ¿qué arquitectura separa mejor?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7479792" y="1371600"/>
            <a:ext cx="4078224" cy="1408176"/>
          </a:xfrm>
          <a:prstGeom prst="roundRect">
            <a:avLst>
              <a:gd name="adj" fmla="val 9091"/>
            </a:avLst>
          </a:prstGeom>
          <a:solidFill>
            <a:srgbClr val="131B2E"/>
          </a:solidFill>
          <a:ln w="12700">
            <a:solidFill>
              <a:srgbClr val="131B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90688" y="166420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E1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GANADOR EN ESTA RED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790688" y="19568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recalibrado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790688" y="23591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5"/>
                </a:solidFill>
              </a:rPr>
              <a:t>Único con FPR operativo y mejor detección a igual FPR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479792" y="2999232"/>
            <a:ext cx="4078224" cy="2761488"/>
          </a:xfrm>
          <a:prstGeom prst="roundRect">
            <a:avLst>
              <a:gd name="adj" fmla="val 4636"/>
            </a:avLst>
          </a:prstGeom>
          <a:solidFill>
            <a:srgbClr val="EAF7F5"/>
          </a:solidFill>
          <a:ln w="12700">
            <a:solidFill>
              <a:srgbClr val="B7DDD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0" y="327355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MÉTRICA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9144000" y="3273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8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RECAL.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0314432" y="327355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OCSVM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754112" y="3547872"/>
            <a:ext cx="3456432" cy="0"/>
          </a:xfrm>
          <a:prstGeom prst="line">
            <a:avLst/>
          </a:prstGeom>
          <a:noFill/>
          <a:ln w="10160">
            <a:solidFill>
              <a:srgbClr val="C5DCD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0" y="36210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1B2E"/>
                </a:solidFill>
              </a:rPr>
              <a:t>ROC-AUC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9144000" y="36210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8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0,923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314432" y="362102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0,456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754112" y="3986784"/>
            <a:ext cx="3456432" cy="0"/>
          </a:xfrm>
          <a:prstGeom prst="line">
            <a:avLst/>
          </a:prstGeom>
          <a:noFill/>
          <a:ln w="10160">
            <a:solidFill>
              <a:srgbClr val="C5DCD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0" y="405993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1B2E"/>
                </a:solidFill>
              </a:rPr>
              <a:t>PR-AUC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9144000" y="40599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8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0,203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0314432" y="405993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0,001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754112" y="4425696"/>
            <a:ext cx="3456432" cy="0"/>
          </a:xfrm>
          <a:prstGeom prst="line">
            <a:avLst/>
          </a:prstGeom>
          <a:noFill/>
          <a:ln w="10160">
            <a:solidFill>
              <a:srgbClr val="C5DCD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0" y="44988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1B2E"/>
                </a:solidFill>
              </a:rPr>
              <a:t>FPR propio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9144000" y="44988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8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4,45 %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0314432" y="449884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99,57 %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754112" y="4864608"/>
            <a:ext cx="3456432" cy="0"/>
          </a:xfrm>
          <a:prstGeom prst="line">
            <a:avLst/>
          </a:prstGeom>
          <a:noFill/>
          <a:ln w="10160">
            <a:solidFill>
              <a:srgbClr val="C5DCD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72400" y="49377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1B2E"/>
                </a:solidFill>
              </a:rPr>
              <a:t>Det. @ FPR 5 %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9144000" y="49377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8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66,7 %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0314432" y="493776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0,0 %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772400" y="5404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i="1" dirty="0">
                <a:solidFill>
                  <a:srgbClr val="5B6B8C"/>
                </a:solidFill>
              </a:rPr>
              <a:t>Con prevalencia de ataque de 0,13 %, Precision y F1 no son el titular: se reportan, pero la decisión se sustenta en ROC/PR-AUC, FPR y detección a igual FPR.</a:t>
            </a:r>
            <a:endParaRPr lang="en-US" sz="940" dirty="0"/>
          </a:p>
        </p:txBody>
      </p:sp>
      <p:sp>
        <p:nvSpPr>
          <p:cNvPr id="34" name="Text 31"/>
          <p:cNvSpPr txBox="1"/>
          <p:nvPr/>
        </p:nvSpPr>
        <p:spPr>
          <a:xfrm>
            <a:off x="1417320" y="5925312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8A7D"/>
                </a:solidFill>
              </a:rPr>
              <a:t>McNemar + Holm: IF recalibrado vs OCSVM/LOF, p &lt; 0,001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6583680" y="58795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31B2E"/>
                </a:solidFill>
              </a:rPr>
              <a:t>Conclusión: el ganador de laboratorio no transfiere; el IF aprende qué es normal aquí.</a:t>
            </a:r>
            <a:endParaRPr lang="en-US" sz="1130" dirty="0"/>
          </a:p>
        </p:txBody>
      </p:sp>
      <p:sp>
        <p:nvSpPr>
          <p:cNvPr id="36" name="Text 33"/>
          <p:cNvSpPr txBox="1"/>
          <p:nvPr/>
        </p:nvSpPr>
        <p:spPr>
          <a:xfrm>
            <a:off x="3703320" y="6492240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D"/>
                </a:solidFill>
              </a:rPr>
              <a:t>Benchmark 14-oct-2026 · comparación-modelos-esta-red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79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493776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CyberFlow en una sola vista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10607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B0CA"/>
                </a:solidFill>
              </a:rPr>
              <a:t>La diapositiva orienta; la evidencia se explica en la GUI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21792" y="1444752"/>
            <a:ext cx="5285232" cy="2167128"/>
          </a:xfrm>
          <a:prstGeom prst="roundRect">
            <a:avLst>
              <a:gd name="adj" fmla="val 5907"/>
            </a:avLst>
          </a:prstGeom>
          <a:solidFill>
            <a:srgbClr val="111C2E"/>
          </a:solidFill>
          <a:ln w="12700">
            <a:solidFill>
              <a:srgbClr val="283854"/>
            </a:solidFill>
            <a:prstDash val="solid"/>
          </a:ln>
        </p:spPr>
      </p:sp>
      <p:pic>
        <p:nvPicPr>
          <p:cNvPr id="5" name="Image 0" descr="C:\Users\markp\Desktop\PY-MEGATRON\PY - PERSONAL\TESIS\CYBERFLOW\orquestacion-limpio\02-metodologia\validacion-interna-profesor\recorrido-ataque-2026-10-13\img\01-alert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5570" y="1545336"/>
            <a:ext cx="3517676" cy="1965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" y="1609344"/>
            <a:ext cx="1243584" cy="310896"/>
          </a:xfrm>
          <a:prstGeom prst="roundRect">
            <a:avLst>
              <a:gd name="adj" fmla="val 47059"/>
            </a:avLst>
          </a:prstGeom>
          <a:solidFill>
            <a:srgbClr val="3A1B20"/>
          </a:solidFill>
          <a:ln w="12700">
            <a:solidFill>
              <a:srgbClr val="7A2B3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6276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9898"/>
                </a:solidFill>
              </a:rPr>
              <a:t>1 · ALERTA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63056" y="1444752"/>
            <a:ext cx="5394960" cy="2167128"/>
          </a:xfrm>
          <a:prstGeom prst="roundRect">
            <a:avLst>
              <a:gd name="adj" fmla="val 5907"/>
            </a:avLst>
          </a:prstGeom>
          <a:solidFill>
            <a:srgbClr val="111C2E"/>
          </a:solidFill>
          <a:ln w="12700">
            <a:solidFill>
              <a:srgbClr val="283854"/>
            </a:solidFill>
            <a:prstDash val="solid"/>
          </a:ln>
        </p:spPr>
      </p:sp>
      <p:pic>
        <p:nvPicPr>
          <p:cNvPr id="9" name="Image 1" descr="C:\Users\markp\Desktop\PY-MEGATRON\PY - PERSONAL\TESIS\CYBERFLOW\orquestacion-limpio\02-metodologia\validacion-interna-profesor\recorrido-ataque-2026-10-13\img\03-scor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475" y="1545336"/>
            <a:ext cx="4832123" cy="19659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82512" y="1609344"/>
            <a:ext cx="1874520" cy="310896"/>
          </a:xfrm>
          <a:prstGeom prst="roundRect">
            <a:avLst>
              <a:gd name="adj" fmla="val 47059"/>
            </a:avLst>
          </a:prstGeom>
          <a:solidFill>
            <a:srgbClr val="13343B"/>
          </a:solidFill>
          <a:ln w="12700">
            <a:solidFill>
              <a:srgbClr val="2A7F8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55664" y="1627632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E0EA"/>
                </a:solidFill>
              </a:rPr>
              <a:t>2 · SCORE / UMBRAL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21792" y="3840480"/>
            <a:ext cx="6903720" cy="2011680"/>
          </a:xfrm>
          <a:prstGeom prst="roundRect">
            <a:avLst>
              <a:gd name="adj" fmla="val 6364"/>
            </a:avLst>
          </a:prstGeom>
          <a:solidFill>
            <a:srgbClr val="111C2E"/>
          </a:solidFill>
          <a:ln w="12700">
            <a:solidFill>
              <a:srgbClr val="283854"/>
            </a:solidFill>
            <a:prstDash val="solid"/>
          </a:ln>
        </p:spPr>
      </p:sp>
      <p:pic>
        <p:nvPicPr>
          <p:cNvPr id="13" name="Image 2" descr="C:\Users\markp\Desktop\PY-MEGATRON\PY - PERSONAL\TESIS\CYBERFLOW\orquestacion-limpio\02-metodologia\validacion-interna-profesor\recorrido-ataque-2026-10-13\img\07-bloqueo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030" y="3941064"/>
            <a:ext cx="2881245" cy="181051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41248" y="4023360"/>
            <a:ext cx="1536192" cy="310896"/>
          </a:xfrm>
          <a:prstGeom prst="roundRect">
            <a:avLst>
              <a:gd name="adj" fmla="val 47059"/>
            </a:avLst>
          </a:prstGeom>
          <a:solidFill>
            <a:srgbClr val="3A1B20"/>
          </a:solidFill>
          <a:ln w="12700">
            <a:solidFill>
              <a:srgbClr val="7A2B34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14400" y="404164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9898"/>
                </a:solidFill>
              </a:rPr>
              <a:t>4 · RESPUESTA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790688" y="3840480"/>
            <a:ext cx="3767328" cy="2011680"/>
          </a:xfrm>
          <a:prstGeom prst="roundRect">
            <a:avLst>
              <a:gd name="adj" fmla="val 6364"/>
            </a:avLst>
          </a:prstGeom>
          <a:solidFill>
            <a:srgbClr val="13343B"/>
          </a:solidFill>
          <a:ln w="12700">
            <a:solidFill>
              <a:srgbClr val="2A7F8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119872" y="41513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E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RECORRIDO EN VIVO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138160" y="4599432"/>
            <a:ext cx="100584" cy="100584"/>
          </a:xfrm>
          <a:prstGeom prst="ellipse">
            <a:avLst/>
          </a:prstGeom>
          <a:solidFill>
            <a:srgbClr val="5CE1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366760" y="45354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SPAN / PCAP + eve.json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138160" y="4892040"/>
            <a:ext cx="100584" cy="100584"/>
          </a:xfrm>
          <a:prstGeom prst="ellipse">
            <a:avLst/>
          </a:prstGeom>
          <a:solidFill>
            <a:srgbClr val="5CE1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366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28 variables + conteos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138160" y="5184648"/>
            <a:ext cx="100584" cy="100584"/>
          </a:xfrm>
          <a:prstGeom prst="ellipse">
            <a:avLst/>
          </a:prstGeom>
          <a:solidFill>
            <a:srgbClr val="5CE1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366760" y="5120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Modelo OR heurísticos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8138160" y="5477256"/>
            <a:ext cx="100584" cy="1005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366760" y="54132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898"/>
                </a:solidFill>
              </a:rPr>
              <a:t>PERMIT · LIMIT · BLOCK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10149840" y="1042416"/>
            <a:ext cx="1207008" cy="310896"/>
          </a:xfrm>
          <a:prstGeom prst="roundRect">
            <a:avLst>
              <a:gd name="adj" fmla="val 47059"/>
            </a:avLst>
          </a:prstGeom>
          <a:solidFill>
            <a:srgbClr val="5CE1D2"/>
          </a:solidFill>
          <a:ln w="12700">
            <a:solidFill>
              <a:srgbClr val="5CE1D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10222992" y="1060704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</a:rPr>
              <a:t>ABRIR GUI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3703320" y="6492240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290AA"/>
                </a:solidFill>
              </a:rPr>
              <a:t>Capturas del panel revisado · 13-oct-2026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290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493776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9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honesta: precisión frente a cobertura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10607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</a:rPr>
              <a:t>Mismo PCAP para ambos · Suricata 7.0.3 + ET Open (53 013 reglas)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21792" y="1371600"/>
            <a:ext cx="6729984" cy="4407408"/>
          </a:xfrm>
          <a:prstGeom prst="roundRect">
            <a:avLst>
              <a:gd name="adj" fmla="val 2905"/>
            </a:avLst>
          </a:prstGeom>
          <a:solidFill>
            <a:srgbClr val="F7F9FC"/>
          </a:solidFill>
          <a:ln w="12700">
            <a:solidFill>
              <a:srgbClr val="DFE5EF"/>
            </a:solidFill>
            <a:prstDash val="solid"/>
          </a:ln>
        </p:spPr>
      </p:sp>
      <p:pic>
        <p:nvPicPr>
          <p:cNvPr id="5" name="Image 0" descr="C:\Users\markp\Desktop\PY-MEGATRON\PY - PERSONAL\TESIS\CYBERFLOW\orquestacion-limpio\02-metodologia\validacion-interna-profesor\comparacion-modelos-esta-red-2026-10-14\img\SUR-01-compar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30704"/>
            <a:ext cx="6473952" cy="36892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0" y="1371600"/>
            <a:ext cx="3968496" cy="1188720"/>
          </a:xfrm>
          <a:prstGeom prst="roundRect">
            <a:avLst>
              <a:gd name="adj" fmla="val 10769"/>
            </a:avLst>
          </a:prstGeom>
          <a:solidFill>
            <a:srgbClr val="131B2E"/>
          </a:solidFill>
          <a:ln w="12700">
            <a:solidFill>
              <a:srgbClr val="131B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82128" y="16367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E1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SENSOR1 · EN VIVO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882128" y="192938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Suricata produce EVE para L7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882128" y="2221992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4E5"/>
                </a:solidFill>
              </a:rPr>
              <a:t>Sin ruleset de alertas: es fuente del sistema, no el IDS comparador.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589520" y="2761488"/>
            <a:ext cx="3968496" cy="1188720"/>
          </a:xfrm>
          <a:prstGeom prst="roundRect">
            <a:avLst>
              <a:gd name="adj" fmla="val 10769"/>
            </a:avLst>
          </a:prstGeom>
          <a:solidFill>
            <a:srgbClr val="F4F6FA"/>
          </a:solidFill>
          <a:ln w="12700">
            <a:solidFill>
              <a:srgbClr val="D8DF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82128" y="30266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VM-SURICATA · COMPARADOR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82128" y="331927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Replay controlado con ET Open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882128" y="3611880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</a:rPr>
              <a:t>El mismo tráfico elimina la ventaja de entrada y permite comparar detección.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589520" y="4151376"/>
            <a:ext cx="3968496" cy="1627632"/>
          </a:xfrm>
          <a:prstGeom prst="roundRect">
            <a:avLst>
              <a:gd name="adj" fmla="val 7865"/>
            </a:avLst>
          </a:prstGeom>
          <a:solidFill>
            <a:srgbClr val="EAF7F5"/>
          </a:solidFill>
          <a:ln w="12700">
            <a:solidFill>
              <a:srgbClr val="B7DDD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82128" y="44165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8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 MEDIDO · 14-OCT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882128" y="471830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FP ET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400032" y="473659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</a:rPr>
              <a:t>de firma sobre clientes legítimos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7882128" y="516636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31B2E"/>
                </a:solidFill>
              </a:rPr>
              <a:t>11 alertas STREAM fueron artefactos del espejo SPAN, no amenazas. CyberFlow: modelo 4,45 % → LIMIT; heurísticos de BLOCK: 0 FP.</a:t>
            </a:r>
            <a:endParaRPr lang="en-US" sz="102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5925312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8A7D"/>
                </a:solidFill>
              </a:rPr>
              <a:t>Tradeoff: Suricata es preciso ante firmas; CyberFlow amplía la cobertura sin firma y responde.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8485632" y="5916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i="1" dirty="0">
                <a:solidFill>
                  <a:srgbClr val="B45309"/>
                </a:solidFill>
              </a:rPr>
              <a:t>Pendiente: confirmación secundaria con corrida simultánea en vivo.</a:t>
            </a:r>
            <a:endParaRPr lang="en-US" sz="980" dirty="0"/>
          </a:p>
        </p:txBody>
      </p:sp>
      <p:sp>
        <p:nvSpPr>
          <p:cNvPr id="21" name="Text 18"/>
          <p:cNvSpPr txBox="1"/>
          <p:nvPr/>
        </p:nvSpPr>
        <p:spPr>
          <a:xfrm>
            <a:off x="3703320" y="6492240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D"/>
                </a:solidFill>
              </a:rPr>
              <a:t>Batería por familia + FPR benigno medido el 14-oct-2026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79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493776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Suricata y CyberFlow: dos enfoques complementarios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106070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EB0CA"/>
                </a:solidFill>
              </a:rPr>
              <a:t>Firmas para lo conocido · comportamiento para lo que se desvía de la normalidad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224528" y="2011680"/>
            <a:ext cx="3749040" cy="2157984"/>
          </a:xfrm>
          <a:prstGeom prst="roundRect">
            <a:avLst>
              <a:gd name="adj" fmla="val 5932"/>
            </a:avLst>
          </a:prstGeom>
          <a:solidFill>
            <a:srgbClr val="13343B"/>
          </a:solidFill>
          <a:ln w="12700">
            <a:solidFill>
              <a:srgbClr val="2A7F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0" y="2331720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E1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 PREGUNTAS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276148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¿Coincide?  +  ¿Se desvía?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681728" y="3273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E0EA"/>
                </a:solidFill>
              </a:rPr>
              <a:t>FIRMAS  +  COMPORTAMIENTO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626864" y="3657600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C7D4E5"/>
                </a:solidFill>
              </a:rPr>
              <a:t>No se sustituyen: juntos amplían la cobertura frente a amenazas conocidas y patrones sin firma.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21792" y="1664208"/>
            <a:ext cx="3054096" cy="1408176"/>
          </a:xfrm>
          <a:prstGeom prst="roundRect">
            <a:avLst>
              <a:gd name="adj" fmla="val 9091"/>
            </a:avLst>
          </a:prstGeom>
          <a:solidFill>
            <a:srgbClr val="111C2E"/>
          </a:solidFill>
          <a:ln w="12700">
            <a:solidFill>
              <a:srgbClr val="28385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9385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SURICATA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2860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Detección por firmas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65176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B0CA"/>
                </a:solidFill>
              </a:rPr>
              <a:t>Pregunta: ¿coincide con una regla conocida?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" y="3749040"/>
            <a:ext cx="3054096" cy="1408176"/>
          </a:xfrm>
          <a:prstGeom prst="roundRect">
            <a:avLst>
              <a:gd name="adj" fmla="val 9091"/>
            </a:avLst>
          </a:prstGeom>
          <a:solidFill>
            <a:srgbClr val="111C2E"/>
          </a:solidFill>
          <a:ln w="12700">
            <a:solidFill>
              <a:srgbClr val="28385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0233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FORTALEZA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3708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Precisión en lo conocido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736592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B0CA"/>
                </a:solidFill>
              </a:rPr>
              <a:t>Nikto: 1/1 · Sin firma: DNS, flood y escaneo 0/3.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03920" y="1664208"/>
            <a:ext cx="3054096" cy="1408176"/>
          </a:xfrm>
          <a:prstGeom prst="roundRect">
            <a:avLst>
              <a:gd name="adj" fmla="val 9091"/>
            </a:avLst>
          </a:prstGeom>
          <a:solidFill>
            <a:srgbClr val="111C2E"/>
          </a:solidFill>
          <a:ln w="12700">
            <a:solidFill>
              <a:srgbClr val="28385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96528" y="19385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E1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CYBERFLOW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796528" y="22860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Análisis de comportamiento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796528" y="265176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B0CA"/>
                </a:solidFill>
              </a:rPr>
              <a:t>Pregunta: ¿se desvía de la línea base o activa un patrón?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03920" y="3749040"/>
            <a:ext cx="3054096" cy="1408176"/>
          </a:xfrm>
          <a:prstGeom prst="roundRect">
            <a:avLst>
              <a:gd name="adj" fmla="val 9091"/>
            </a:avLst>
          </a:prstGeom>
          <a:solidFill>
            <a:srgbClr val="111C2E"/>
          </a:solidFill>
          <a:ln w="12700">
            <a:solidFill>
              <a:srgbClr val="28385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796528" y="40233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E1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FORTALEZA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796528" y="43708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Cobertura sin firma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796528" y="4736592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B0CA"/>
                </a:solidFill>
              </a:rPr>
              <a:t>DNS, flood y escaneo: 3/3 · Respuesta LIMIT o BLOCK.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67328" y="2148840"/>
            <a:ext cx="329184" cy="420624"/>
          </a:xfrm>
          <a:prstGeom prst="chevron">
            <a:avLst/>
          </a:prstGeom>
          <a:solidFill>
            <a:srgbClr val="3A5169"/>
          </a:solidFill>
          <a:ln w="12700">
            <a:solidFill>
              <a:srgbClr val="3A51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67328" y="4233672"/>
            <a:ext cx="329184" cy="420624"/>
          </a:xfrm>
          <a:prstGeom prst="chevron">
            <a:avLst/>
          </a:prstGeom>
          <a:solidFill>
            <a:srgbClr val="3A5169"/>
          </a:solidFill>
          <a:ln w="12700">
            <a:solidFill>
              <a:srgbClr val="3A51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0800000">
            <a:off x="8083296" y="2148840"/>
            <a:ext cx="329184" cy="420624"/>
          </a:xfrm>
          <a:prstGeom prst="chevron">
            <a:avLst/>
          </a:prstGeom>
          <a:solidFill>
            <a:srgbClr val="3A5169"/>
          </a:solidFill>
          <a:ln w="12700">
            <a:solidFill>
              <a:srgbClr val="3A51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0800000">
            <a:off x="8083296" y="4233672"/>
            <a:ext cx="329184" cy="420624"/>
          </a:xfrm>
          <a:prstGeom prst="chevron">
            <a:avLst/>
          </a:prstGeom>
          <a:solidFill>
            <a:srgbClr val="3A5169"/>
          </a:solidFill>
          <a:ln w="12700">
            <a:solidFill>
              <a:srgbClr val="3A51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11680" y="5614416"/>
            <a:ext cx="8174736" cy="566928"/>
          </a:xfrm>
          <a:prstGeom prst="roundRect">
            <a:avLst>
              <a:gd name="adj" fmla="val 22581"/>
            </a:avLst>
          </a:prstGeom>
          <a:solidFill>
            <a:srgbClr val="2B2410"/>
          </a:solidFill>
          <a:ln w="12700">
            <a:solidFill>
              <a:srgbClr val="6E5A2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286000" y="5769864"/>
            <a:ext cx="7626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8D985"/>
                </a:solidFill>
              </a:rPr>
              <a:t>SURICATA: amenazas conocidas  +  CYBERFLOW: conducta sin firma  =  mayor cobertura y respuesta</a:t>
            </a:r>
            <a:endParaRPr lang="en-US" sz="1140" dirty="0"/>
          </a:p>
        </p:txBody>
      </p:sp>
      <p:sp>
        <p:nvSpPr>
          <p:cNvPr id="31" name="Text 29"/>
          <p:cNvSpPr txBox="1"/>
          <p:nvPr/>
        </p:nvSpPr>
        <p:spPr>
          <a:xfrm>
            <a:off x="3703320" y="6492240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290AA"/>
                </a:solidFill>
              </a:rPr>
              <a:t>Comparación conceptual · no se sustituyen, se complementan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290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493776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ataque → evidencia → respuesta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1060704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EB0CA"/>
                </a:solidFill>
              </a:rPr>
              <a:t>La prueba termina cuando la misma IP, hora, motivo y acción coinciden en toda la cadena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1975104" cy="1883664"/>
          </a:xfrm>
          <a:prstGeom prst="roundRect">
            <a:avLst>
              <a:gd name="adj" fmla="val 6796"/>
            </a:avLst>
          </a:prstGeom>
          <a:solidFill>
            <a:srgbClr val="13343B"/>
          </a:solidFill>
          <a:ln w="12700">
            <a:solidFill>
              <a:srgbClr val="1334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810512"/>
            <a:ext cx="384048" cy="384048"/>
          </a:xfrm>
          <a:prstGeom prst="ellipse">
            <a:avLst/>
          </a:prstGeom>
          <a:solidFill>
            <a:srgbClr val="8FE0EA"/>
          </a:solidFill>
          <a:ln w="12700">
            <a:solidFill>
              <a:srgbClr val="8FE0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3408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E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69748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Kali confirma 443/tcp open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15184" y="2304288"/>
            <a:ext cx="201168" cy="365760"/>
          </a:xfrm>
          <a:prstGeom prst="chevron">
            <a:avLst/>
          </a:prstGeom>
          <a:solidFill>
            <a:srgbClr val="3A5169"/>
          </a:solidFill>
          <a:ln w="12700">
            <a:solidFill>
              <a:srgbClr val="3A51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62072" y="1627632"/>
            <a:ext cx="1975104" cy="1883664"/>
          </a:xfrm>
          <a:prstGeom prst="roundRect">
            <a:avLst>
              <a:gd name="adj" fmla="val 6796"/>
            </a:avLst>
          </a:prstGeom>
          <a:solidFill>
            <a:srgbClr val="3A1B20"/>
          </a:solidFill>
          <a:ln w="12700">
            <a:solidFill>
              <a:srgbClr val="3A1B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26664" y="1810512"/>
            <a:ext cx="384048" cy="384048"/>
          </a:xfrm>
          <a:prstGeom prst="ellipse">
            <a:avLst/>
          </a:prstGeom>
          <a:solidFill>
            <a:srgbClr val="FF9898"/>
          </a:solidFill>
          <a:ln w="12700">
            <a:solidFill>
              <a:srgbClr val="FF989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26664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026664" y="23408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ATAQUE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026664" y="269748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nmap a 3000 puertos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55464" y="2304288"/>
            <a:ext cx="201168" cy="365760"/>
          </a:xfrm>
          <a:prstGeom prst="chevron">
            <a:avLst/>
          </a:prstGeom>
          <a:solidFill>
            <a:srgbClr val="3A5169"/>
          </a:solidFill>
          <a:ln w="12700">
            <a:solidFill>
              <a:srgbClr val="3A51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02352" y="1627632"/>
            <a:ext cx="1975104" cy="1883664"/>
          </a:xfrm>
          <a:prstGeom prst="roundRect">
            <a:avLst>
              <a:gd name="adj" fmla="val 6796"/>
            </a:avLst>
          </a:prstGeom>
          <a:solidFill>
            <a:srgbClr val="2B2410"/>
          </a:solidFill>
          <a:ln w="12700">
            <a:solidFill>
              <a:srgbClr val="2B241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66944" y="1810512"/>
            <a:ext cx="384048" cy="384048"/>
          </a:xfrm>
          <a:prstGeom prst="ellipse">
            <a:avLst/>
          </a:prstGeom>
          <a:solidFill>
            <a:srgbClr val="F2D890"/>
          </a:solidFill>
          <a:ln w="12700">
            <a:solidFill>
              <a:srgbClr val="F2D8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66944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410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266944" y="23408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D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DETECCIÓN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266944" y="269748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port_scan + score &lt; umbral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95744" y="2304288"/>
            <a:ext cx="201168" cy="365760"/>
          </a:xfrm>
          <a:prstGeom prst="chevron">
            <a:avLst/>
          </a:prstGeom>
          <a:solidFill>
            <a:srgbClr val="3A5169"/>
          </a:solidFill>
          <a:ln w="12700">
            <a:solidFill>
              <a:srgbClr val="3A51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42632" y="1627632"/>
            <a:ext cx="1975104" cy="1883664"/>
          </a:xfrm>
          <a:prstGeom prst="roundRect">
            <a:avLst>
              <a:gd name="adj" fmla="val 6796"/>
            </a:avLst>
          </a:prstGeom>
          <a:solidFill>
            <a:srgbClr val="3A1B20"/>
          </a:solidFill>
          <a:ln w="12700">
            <a:solidFill>
              <a:srgbClr val="3A1B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07224" y="1810512"/>
            <a:ext cx="384048" cy="384048"/>
          </a:xfrm>
          <a:prstGeom prst="ellipse">
            <a:avLst/>
          </a:prstGeom>
          <a:solidFill>
            <a:srgbClr val="FF9898"/>
          </a:solidFill>
          <a:ln w="12700">
            <a:solidFill>
              <a:srgbClr val="FF989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07224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507224" y="23408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RESPUESTA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507224" y="269748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feed firmado → agente → nftables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336024" y="2304288"/>
            <a:ext cx="201168" cy="365760"/>
          </a:xfrm>
          <a:prstGeom prst="chevron">
            <a:avLst/>
          </a:prstGeom>
          <a:solidFill>
            <a:srgbClr val="3A5169"/>
          </a:solidFill>
          <a:ln w="12700">
            <a:solidFill>
              <a:srgbClr val="3A51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82912" y="1627632"/>
            <a:ext cx="1975104" cy="1883664"/>
          </a:xfrm>
          <a:prstGeom prst="roundRect">
            <a:avLst>
              <a:gd name="adj" fmla="val 6796"/>
            </a:avLst>
          </a:prstGeom>
          <a:solidFill>
            <a:srgbClr val="13343B"/>
          </a:solidFill>
          <a:ln w="12700">
            <a:solidFill>
              <a:srgbClr val="1334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47504" y="1810512"/>
            <a:ext cx="384048" cy="384048"/>
          </a:xfrm>
          <a:prstGeom prst="ellipse">
            <a:avLst/>
          </a:prstGeom>
          <a:solidFill>
            <a:srgbClr val="8FE0EA"/>
          </a:solidFill>
          <a:ln w="12700">
            <a:solidFill>
              <a:srgbClr val="8FE0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47504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747504" y="23408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E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DESPUÉS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747504" y="269748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Kali confirma 443/tcp filtered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1792" y="3877056"/>
            <a:ext cx="6583680" cy="1554480"/>
          </a:xfrm>
          <a:prstGeom prst="roundRect">
            <a:avLst>
              <a:gd name="adj" fmla="val 8235"/>
            </a:avLst>
          </a:prstGeom>
          <a:solidFill>
            <a:srgbClr val="111C2E"/>
          </a:solidFill>
          <a:ln w="12700">
            <a:solidFill>
              <a:srgbClr val="28385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4400" y="418795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E1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 DE VALIDACIÓN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14400" y="4590288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 = motor_decision.log = feed = nftables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7479792" y="3877056"/>
            <a:ext cx="4078224" cy="1554480"/>
          </a:xfrm>
          <a:prstGeom prst="roundRect">
            <a:avLst>
              <a:gd name="adj" fmla="val 8235"/>
            </a:avLst>
          </a:prstGeom>
          <a:solidFill>
            <a:srgbClr val="2B2410"/>
          </a:solidFill>
          <a:ln w="12700">
            <a:solidFill>
              <a:srgbClr val="6E5A2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90688" y="418795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D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EVALUAMOS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7790688" y="459028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Entorno · producto · evidencia · límites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3749040" y="5870448"/>
            <a:ext cx="4462272" cy="310896"/>
          </a:xfrm>
          <a:prstGeom prst="roundRect">
            <a:avLst>
              <a:gd name="adj" fmla="val 47059"/>
            </a:avLst>
          </a:prstGeom>
          <a:solidFill>
            <a:srgbClr val="5CE1D2"/>
          </a:solidFill>
          <a:ln w="12700">
            <a:solidFill>
              <a:srgbClr val="5CE1D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822192" y="5888736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</a:rPr>
              <a:t>CAMBIAR A KALI + GUI + TERMINAL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3703320" y="6492240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290AA"/>
                </a:solidFill>
              </a:rPr>
              <a:t>Escenario: Kali 10.10.20.30 → srv-dmz 10.10.30.10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290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CyberFlow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CyberFlow | Validación técnica interna</dc:title>
  <dc:subject>Validación técnica interna de CyberFlow</dc:subject>
  <dc:creator>Mark y Uziel</dc:creator>
  <cp:lastModifiedBy>Mark y Uziel</cp:lastModifiedBy>
  <cp:revision>1</cp:revision>
  <dcterms:created xsi:type="dcterms:W3CDTF">2026-10-17T23:37:04Z</dcterms:created>
  <dcterms:modified xsi:type="dcterms:W3CDTF">2026-10-17T23:37:04Z</dcterms:modified>
</cp:coreProperties>
</file>